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88" r:id="rId6"/>
    <p:sldId id="289" r:id="rId7"/>
    <p:sldId id="290" r:id="rId8"/>
    <p:sldId id="291" r:id="rId9"/>
    <p:sldId id="293" r:id="rId10"/>
    <p:sldId id="294" r:id="rId11"/>
    <p:sldId id="295" r:id="rId12"/>
    <p:sldId id="296" r:id="rId13"/>
    <p:sldId id="297" r:id="rId14"/>
    <p:sldId id="301" r:id="rId15"/>
    <p:sldId id="298" r:id="rId16"/>
    <p:sldId id="299" r:id="rId17"/>
    <p:sldId id="300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750A39-590B-4F0D-98EE-6B5A0E3D7218}" v="38" dt="2026-03-24T09:02:51.4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RBAN RAY" userId="ccde8fe0d1775308" providerId="LiveId" clId="{0178332D-D2F9-4A2F-A88E-1048ACD709FE}"/>
    <pc:docChg chg="undo custSel modSld">
      <pc:chgData name="ANIRBAN RAY" userId="ccde8fe0d1775308" providerId="LiveId" clId="{0178332D-D2F9-4A2F-A88E-1048ACD709FE}" dt="2026-03-24T09:02:51.414" v="37" actId="14100"/>
      <pc:docMkLst>
        <pc:docMk/>
      </pc:docMkLst>
      <pc:sldChg chg="addSp delSp modSp mod">
        <pc:chgData name="ANIRBAN RAY" userId="ccde8fe0d1775308" providerId="LiveId" clId="{0178332D-D2F9-4A2F-A88E-1048ACD709FE}" dt="2026-03-24T08:08:18.509" v="24" actId="113"/>
        <pc:sldMkLst>
          <pc:docMk/>
          <pc:sldMk cId="2760788276" sldId="293"/>
        </pc:sldMkLst>
        <pc:spChg chg="add mod">
          <ac:chgData name="ANIRBAN RAY" userId="ccde8fe0d1775308" providerId="LiveId" clId="{0178332D-D2F9-4A2F-A88E-1048ACD709FE}" dt="2026-03-24T08:08:18.509" v="24" actId="113"/>
          <ac:spMkLst>
            <pc:docMk/>
            <pc:sldMk cId="2760788276" sldId="293"/>
            <ac:spMk id="3" creationId="{19D8C167-8EE9-8B82-FD30-4E67E9D7B0E8}"/>
          </ac:spMkLst>
        </pc:spChg>
        <pc:picChg chg="del mod">
          <ac:chgData name="ANIRBAN RAY" userId="ccde8fe0d1775308" providerId="LiveId" clId="{0178332D-D2F9-4A2F-A88E-1048ACD709FE}" dt="2026-03-24T08:07:40.400" v="2" actId="478"/>
          <ac:picMkLst>
            <pc:docMk/>
            <pc:sldMk cId="2760788276" sldId="293"/>
            <ac:picMk id="18" creationId="{0575B117-A27B-F5F0-4762-C6CECE019B04}"/>
          </ac:picMkLst>
        </pc:picChg>
      </pc:sldChg>
      <pc:sldChg chg="addSp modSp mod">
        <pc:chgData name="ANIRBAN RAY" userId="ccde8fe0d1775308" providerId="LiveId" clId="{0178332D-D2F9-4A2F-A88E-1048ACD709FE}" dt="2026-03-24T09:02:51.414" v="37" actId="14100"/>
        <pc:sldMkLst>
          <pc:docMk/>
          <pc:sldMk cId="3239252219" sldId="295"/>
        </pc:sldMkLst>
        <pc:picChg chg="add mod modCrop">
          <ac:chgData name="ANIRBAN RAY" userId="ccde8fe0d1775308" providerId="LiveId" clId="{0178332D-D2F9-4A2F-A88E-1048ACD709FE}" dt="2026-03-24T09:02:30.522" v="33" actId="1076"/>
          <ac:picMkLst>
            <pc:docMk/>
            <pc:sldMk cId="3239252219" sldId="295"/>
            <ac:picMk id="3" creationId="{C77BFB24-1224-AFD8-1B84-0BF2F840120D}"/>
          </ac:picMkLst>
        </pc:picChg>
        <pc:picChg chg="mod modCrop">
          <ac:chgData name="ANIRBAN RAY" userId="ccde8fe0d1775308" providerId="LiveId" clId="{0178332D-D2F9-4A2F-A88E-1048ACD709FE}" dt="2026-03-24T09:02:18.348" v="29" actId="732"/>
          <ac:picMkLst>
            <pc:docMk/>
            <pc:sldMk cId="3239252219" sldId="295"/>
            <ac:picMk id="10" creationId="{4AA68493-146E-D40C-92F1-F484B084381B}"/>
          </ac:picMkLst>
        </pc:picChg>
        <pc:picChg chg="mod">
          <ac:chgData name="ANIRBAN RAY" userId="ccde8fe0d1775308" providerId="LiveId" clId="{0178332D-D2F9-4A2F-A88E-1048ACD709FE}" dt="2026-03-24T09:02:51.414" v="37" actId="14100"/>
          <ac:picMkLst>
            <pc:docMk/>
            <pc:sldMk cId="3239252219" sldId="295"/>
            <ac:picMk id="12" creationId="{A899CB18-DB2D-1A73-5813-A77A469F3DFB}"/>
          </ac:picMkLst>
        </pc:picChg>
        <pc:picChg chg="mod">
          <ac:chgData name="ANIRBAN RAY" userId="ccde8fe0d1775308" providerId="LiveId" clId="{0178332D-D2F9-4A2F-A88E-1048ACD709FE}" dt="2026-03-24T09:02:38.911" v="35" actId="14100"/>
          <ac:picMkLst>
            <pc:docMk/>
            <pc:sldMk cId="3239252219" sldId="295"/>
            <ac:picMk id="14" creationId="{5C7B43D3-FD89-E8C7-5C35-01FD984AE46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9382-69B9-A14B-5288-804E8422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B5A8D-2F7F-BB5A-2202-3A2649342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66308-182E-772A-FD02-77D785690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190FA-091A-F0B8-B706-FE485217D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90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A734C-084D-9132-8619-65C06E89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73A7C-7689-B3B5-A527-A6BECC56E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AF798-7F19-608C-68D0-F7EC79FCE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A8246-379D-ECF9-0D9A-EDD678E9B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09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C74A-5123-6D44-3EBD-6D17A0E9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3A85D-A4E0-0D98-172F-A7537C6E08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023561-5AC6-C7FB-8E87-6710784D6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C4B5E-A641-BFCC-AC0C-40A2E1C65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59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7453C-F0DA-2F54-37AB-7564AD73A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2C9D3-0EA1-D1B1-E548-E94C88A75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9BBB8-A230-3A6D-F0F4-65C4745AC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C184C-3609-CE92-3720-90F8438AF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18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110F1-64FE-08EC-7822-BD888E25E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E87A3-3BB4-76C7-21B8-0A0FBA18A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A0901-0933-86E9-9BBB-EAEEF0FD0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0E52B-4138-63DB-CCA6-D1CE8167C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75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B87AC-9079-9925-A19C-45FA73F9A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C8047-0F8E-7C18-4354-5002FF50C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AB7B5-4800-0793-9B28-6F7040E50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CA885-CA51-66E0-79FD-E7AA04073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19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B029-1203-0699-1620-C8A25332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E7B52-3AF1-F543-6235-EF3150AEE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F270AE-D579-4AFD-BA91-44E6092FB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B93D1-ACAC-6785-3264-CADD7E691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88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C3C94-D301-1C00-B427-F9AD8C52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D0265-3FD6-5110-2865-F3BC6E78A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7D83C-FCBA-BB28-1CBE-BC1BCD854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BE6EB-B07A-FA31-EAEB-C2FD7FF1F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19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C2D47-ED42-A0D0-82D1-0DBF48E3D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A3CB2-38E8-3826-0DA8-6F0D096E6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A9C7C-3CD0-7938-BA61-D86E8A490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157A6-686B-77F6-59C6-7CDAE4792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67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C543-A9F1-D727-CC4A-8AB38B23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8E197-B37C-A7A7-8642-5259935BE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2A0E1-876B-3B36-AEDC-CD0B860C3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6C343-8539-6925-06DC-4A31A5CC8E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63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B7BA-F299-E303-A1B9-8F8229F70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B67EE-B64E-BC58-64E2-2071D70CE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FA2F9-4EAC-6EA3-527F-469CB1AC6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DE851-9D26-6558-B510-384DE9F61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50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4F17-80E1-3C13-E7EE-36784FB1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75B5B-6FF0-6242-7782-9568C1DA8E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65D50-3734-DD83-D4DB-E143587EE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748EB-39C3-FCDE-546F-54B1C8E9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4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220B-13C7-C1B2-6465-E6CEA73F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1549B-0343-AE24-3AFA-109BF3D8B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E5197-AD73-28F4-D9C9-FCA137AAD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7DCA1-9277-F5A5-D62E-EBE944252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2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017" y="1016550"/>
            <a:ext cx="9144000" cy="1994392"/>
          </a:xfrm>
        </p:spPr>
        <p:txBody>
          <a:bodyPr lIns="0" tIns="0" rIns="0" bIns="0" anchor="t">
            <a:spAutoFit/>
          </a:bodyPr>
          <a:lstStyle/>
          <a:p>
            <a:r>
              <a:rPr lang="en-IN" sz="72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Fact &amp; Claim Verification System </a:t>
            </a:r>
            <a:endParaRPr lang="en-US" sz="720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C6CEB-EF19-7423-A9B3-8C4DFFB2606F}"/>
              </a:ext>
            </a:extLst>
          </p:cNvPr>
          <p:cNvSpPr txBox="1"/>
          <p:nvPr/>
        </p:nvSpPr>
        <p:spPr>
          <a:xfrm>
            <a:off x="7399683" y="3540301"/>
            <a:ext cx="4170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By: </a:t>
            </a:r>
            <a:br>
              <a:rPr lang="en-IN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</a:br>
            <a:r>
              <a:rPr lang="en-IN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     </a:t>
            </a:r>
            <a:r>
              <a:rPr lang="en-IN" u="sng" err="1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TechCyber</a:t>
            </a:r>
            <a:br>
              <a:rPr lang="en-IN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</a:br>
            <a:r>
              <a:rPr lang="en-IN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     ➢Anirban Ray </a:t>
            </a:r>
            <a:br>
              <a:rPr lang="en-IN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</a:br>
            <a:r>
              <a:rPr lang="en-IN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     ➢</a:t>
            </a:r>
            <a:r>
              <a:rPr lang="en-IN" err="1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Anusmita</a:t>
            </a:r>
            <a:r>
              <a:rPr lang="en-IN">
                <a:solidFill>
                  <a:schemeClr val="bg1">
                    <a:lumMod val="95000"/>
                  </a:schemeClr>
                </a:solidFill>
                <a:latin typeface="Bahnschrift SemiBold" panose="020B0502040204020203" pitchFamily="34" charset="0"/>
              </a:rPr>
              <a:t> Ray Chaudhuri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826EB7-424B-816B-C449-4F991DAB0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498" y="4999807"/>
            <a:ext cx="2038635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C99D4-E25B-A6FB-7841-D2A15C3E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8765-2F45-C867-F542-E222271DC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IN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Problem Statement</a:t>
            </a:r>
            <a:endParaRPr lang="en-US" sz="660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42CBC1A-D31B-5082-4C2C-69A387643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AEF2653-B9F8-0B42-6A0B-82280103B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7" y="-1938695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D3ACD-1E33-4885-99EA-269468706553}"/>
              </a:ext>
            </a:extLst>
          </p:cNvPr>
          <p:cNvSpPr txBox="1"/>
          <p:nvPr/>
        </p:nvSpPr>
        <p:spPr>
          <a:xfrm>
            <a:off x="802433" y="1922106"/>
            <a:ext cx="1087949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Problem Statement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In today’s digital world, ensuring the authenticity of information has become a major challenge: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➤ Rapid growth of AI-generated content leads to misinformation and hallucinations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➤ Users cannot easily verify the correctness of online text or news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➤ Manual fact-checking is time-consuming and not scalable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➤ Lack of reliable tools to validate real-time information</a:t>
            </a:r>
          </a:p>
          <a:p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</a:br>
            <a:endParaRPr lang="en-US" sz="2000">
              <a:solidFill>
                <a:schemeClr val="bg1">
                  <a:lumMod val="95000"/>
                </a:schemeClr>
              </a:solidFill>
              <a:latin typeface="Arial Narrow" panose="020B0606020202030204" pitchFamily="34" charset="0"/>
            </a:endParaRP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This creates a critical bottleneck where: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➤ False or misleading information spreads quickly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➤ Decision-making becomes unreliable and risky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➤ Trust in digital and AI-generated content decreases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rial Narrow" panose="020B0606020202030204" pitchFamily="34" charset="0"/>
              </a:rPr>
              <a:t>➤ Organizations face challenges in maintaining data credibility</a:t>
            </a:r>
          </a:p>
          <a:p>
            <a:endParaRPr lang="en-IN" sz="2000">
              <a:solidFill>
                <a:schemeClr val="bg1">
                  <a:lumMod val="95000"/>
                </a:schemeClr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661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9E705-363F-709A-4736-475E721D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0822-3B96-969A-6C12-3ECF16852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IN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Objective</a:t>
            </a:r>
            <a:endParaRPr lang="en-US" sz="660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8F73B794-3C84-5944-5C40-9D06970C6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84636" y="-436574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8A1A08F4-DFFB-6467-029D-DE05F47C4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48081" y="-1100595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528F4-3C1E-81D4-0C2C-2506EBADA4A0}"/>
              </a:ext>
            </a:extLst>
          </p:cNvPr>
          <p:cNvSpPr txBox="1"/>
          <p:nvPr/>
        </p:nvSpPr>
        <p:spPr>
          <a:xfrm>
            <a:off x="802433" y="1922106"/>
            <a:ext cx="1087949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The goal of this project is to develop an intelligent system that ensures the reliability of digital content: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Automatically extract verifiable claims from text or URLs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Retrieve relevant, real-time evidence from trusted web sources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Analyze and validate claims using AI-based verification techniques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Classify claims as True, False, Partially True, or Unverifiable</a:t>
            </a:r>
          </a:p>
          <a:p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endParaRPr lang="en-US" sz="200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The system aims to achieve the following outcomes: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Generate a clear and detailed accuracy report with citations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Provide confidence scores for each verified claim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Reduce the spread of misinformation and AI hallucinations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Build trust in AI-generated and online content</a:t>
            </a:r>
          </a:p>
        </p:txBody>
      </p:sp>
    </p:spTree>
    <p:extLst>
      <p:ext uri="{BB962C8B-B14F-4D97-AF65-F5344CB8AC3E}">
        <p14:creationId xmlns:p14="http://schemas.microsoft.com/office/powerpoint/2010/main" val="1787335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64B6A-C4BF-DB26-3681-771DEA315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19A3-E6DE-A33A-8C45-93A1C4378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IN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Target user</a:t>
            </a:r>
            <a:endParaRPr lang="en-US" sz="6600">
              <a:solidFill>
                <a:schemeClr val="bg1">
                  <a:lumMod val="9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64605FB9-D6D4-2764-454C-E538DF40B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8" y="-230456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13F01D31-DC23-8603-7537-BE2E89AC0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7" y="-1938695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B0253-28D6-0342-6DC6-3C1546061639}"/>
              </a:ext>
            </a:extLst>
          </p:cNvPr>
          <p:cNvSpPr txBox="1"/>
          <p:nvPr/>
        </p:nvSpPr>
        <p:spPr>
          <a:xfrm>
            <a:off x="765110" y="1999122"/>
            <a:ext cx="108794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Target User: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Researchers, Journalists, Business Professionals, and General Users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Need accurate and reliable information for decision-making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Cannot manually verify large amounts of text or news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Face difficulty identifying misinformation or fake content</a:t>
            </a:r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➤ Require quick validation of AI-generated or online data</a:t>
            </a:r>
          </a:p>
          <a:p>
            <a:b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</a:br>
            <a:endParaRPr lang="en-US" sz="2000">
              <a:solidFill>
                <a:schemeClr val="bg1">
                  <a:lumMod val="95000"/>
                </a:schemeClr>
              </a:solidFill>
              <a:latin typeface="Aptos" panose="020B0004020202020204" pitchFamily="34" charset="0"/>
            </a:endParaRPr>
          </a:p>
          <a:p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Pain Point: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 Lack of instant and trustworthy fact-checking leads to misinformation and poor decisions</a:t>
            </a:r>
          </a:p>
          <a:p>
            <a:r>
              <a:rPr lang="en-US" sz="2000" b="1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Goal:</a:t>
            </a:r>
          </a:p>
          <a:p>
            <a:r>
              <a:rPr lang="en-US" sz="2000">
                <a:solidFill>
                  <a:schemeClr val="bg1">
                    <a:lumMod val="95000"/>
                  </a:schemeClr>
                </a:solidFill>
                <a:latin typeface="Aptos" panose="020B0004020202020204" pitchFamily="34" charset="0"/>
              </a:rPr>
              <a:t> Provide an automated, real-time fact verification system for accurate and trustworthy information</a:t>
            </a:r>
          </a:p>
        </p:txBody>
      </p:sp>
    </p:spTree>
    <p:extLst>
      <p:ext uri="{BB962C8B-B14F-4D97-AF65-F5344CB8AC3E}">
        <p14:creationId xmlns:p14="http://schemas.microsoft.com/office/powerpoint/2010/main" val="564330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CC691-4971-75ED-CAB8-60FAE27B4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EE35-08E5-492F-2930-84F91ED94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System Overview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3F8262E7-B328-584C-57BD-214B3302C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A102640-828B-CD74-FACC-B73C14DE1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20D82B-F7F0-DBBE-EF6E-3CA80D7AF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049" y="2129962"/>
            <a:ext cx="7464490" cy="414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76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9D844-CD23-BA26-2BF1-75D33203E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4EC2-D1B7-7454-CAB8-FCF7FFDD4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Tech Stack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A5D21049-3A46-4719-A864-75F7642EB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7D6E2D98-B858-C2CD-084B-FFE58844F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79E2F4-070B-1F99-749A-315CAD639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372" y="1822227"/>
            <a:ext cx="2971485" cy="4258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0536B6-A874-69F8-265B-E3FCA18B8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533" y="1805689"/>
            <a:ext cx="3181753" cy="28573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0158B7-2BCE-4E4F-EA11-69E673E4A1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696" y="4487954"/>
            <a:ext cx="1670194" cy="1751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B53F85-9686-7BD2-A964-01FE8737F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533" y="4487954"/>
            <a:ext cx="3296110" cy="1524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7ABC03-42F0-0CA4-1FA8-A34D3B9685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8643" y="4402216"/>
            <a:ext cx="409632" cy="3238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811FA7-2617-39DF-9C34-6CD80F7CF1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459" y="1847677"/>
            <a:ext cx="2461913" cy="4383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D8C167-8EE9-8B82-FD30-4E67E9D7B0E8}"/>
              </a:ext>
            </a:extLst>
          </p:cNvPr>
          <p:cNvSpPr txBox="1"/>
          <p:nvPr/>
        </p:nvSpPr>
        <p:spPr>
          <a:xfrm>
            <a:off x="8483459" y="2286000"/>
            <a:ext cx="246191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err="1"/>
              <a:t>Groq-sdk</a:t>
            </a:r>
            <a:endParaRPr lang="en-I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err="1"/>
              <a:t>tavily</a:t>
            </a:r>
            <a:endParaRPr lang="en-IN" b="1"/>
          </a:p>
        </p:txBody>
      </p:sp>
    </p:spTree>
    <p:extLst>
      <p:ext uri="{BB962C8B-B14F-4D97-AF65-F5344CB8AC3E}">
        <p14:creationId xmlns:p14="http://schemas.microsoft.com/office/powerpoint/2010/main" val="276078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E9C53-9513-2495-E459-AF245899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37CFA-5B5D-5D35-958A-264C22B3B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Architecture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6F71E304-74B8-3071-CD47-01D22B92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70319BE4-533B-774D-2BDF-4FE9AB0E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E56D0B-5C7D-8CA7-0539-BF2EFEB97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176" y="1753019"/>
            <a:ext cx="6690049" cy="439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9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392EFD-B651-5D3B-AF54-1188B206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D10BE-753D-0443-CF1A-FE9EC0AD2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Key Features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EE3B21C-7152-B9B2-456F-70F72CE01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01A36FF0-4FEA-6759-BDD1-39FDD7A60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A68493-146E-D40C-92F1-F484B08438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49"/>
          <a:stretch>
            <a:fillRect/>
          </a:stretch>
        </p:blipFill>
        <p:spPr>
          <a:xfrm>
            <a:off x="1402504" y="1310160"/>
            <a:ext cx="7487695" cy="37525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99CB18-DB2D-1A73-5813-A77A469F3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502" y="5656933"/>
            <a:ext cx="6677946" cy="543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C7B43D3-FD89-E8C7-5C35-01FD984AE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606" y="5363721"/>
            <a:ext cx="929593" cy="8362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7BFB24-1224-AFD8-1B84-0BF2F84012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995"/>
          <a:stretch>
            <a:fillRect/>
          </a:stretch>
        </p:blipFill>
        <p:spPr>
          <a:xfrm>
            <a:off x="1402503" y="5058983"/>
            <a:ext cx="7487695" cy="6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5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3E7CA-615A-71EE-C0A7-A5C068D7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1A126-6A85-D38E-01BC-226BF308A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1828193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Accuracy and Intelligence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33F89518-9BBB-7D6A-29F9-47F9F8283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82B559C4-5BF8-C665-B7CD-621F20E9F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0B18EC-5F64-95B8-CB05-8505C63D84E9}"/>
              </a:ext>
            </a:extLst>
          </p:cNvPr>
          <p:cNvSpPr txBox="1"/>
          <p:nvPr/>
        </p:nvSpPr>
        <p:spPr>
          <a:xfrm>
            <a:off x="625151" y="2238253"/>
            <a:ext cx="1121539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Claim-Aware AI Understanding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Extracts key factual claims from user input to avoid misinterpretation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Focuses only on verifiable statements for precise analysis</a:t>
            </a: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Evidence-Based Verification Engine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Uses retrieved real-time evidence instead of relying only on AI knowledge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Ensures outputs are grounded in factual sources</a:t>
            </a: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Intelligent Multi-Modal Analysis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Processes text, URLs, and images for comprehensive verification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Enhances system capability beyond traditional text-only models</a:t>
            </a: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Error Handling &amp; Feedback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Detects unclear or invalid inputs and provides meaningful suggestions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Prevents system failure and improves user experience</a:t>
            </a:r>
          </a:p>
          <a:p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Outcome: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Delivers accurate, explainable, and trustworthy fact-checking results with high reliability</a:t>
            </a:r>
          </a:p>
        </p:txBody>
      </p:sp>
    </p:spTree>
    <p:extLst>
      <p:ext uri="{BB962C8B-B14F-4D97-AF65-F5344CB8AC3E}">
        <p14:creationId xmlns:p14="http://schemas.microsoft.com/office/powerpoint/2010/main" val="62767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E8DE3-9EF1-4D41-8705-F4BC9DC2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D8C06-A722-28A3-E7AA-80BFD9EAE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UI &amp; UX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97310C36-0D6A-4F0B-B0C4-F2099D7E9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04558080-E981-9D7A-0FB3-CEAC81D3D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5F8EE1-DD86-6C16-B82B-5917BC95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095" y="1285040"/>
            <a:ext cx="4347281" cy="2481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E0F5B3-4877-D0B4-0068-936008C5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7" y="1301883"/>
            <a:ext cx="3912293" cy="24482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4B874C-04B7-FA72-2E3A-E0DF37D93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5494" y="4059551"/>
            <a:ext cx="4273421" cy="27984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D9CBBB-C8B7-C202-99B8-E07D7DED0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2997" y="3819210"/>
            <a:ext cx="4702629" cy="293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87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4AE35-63CF-4D69-A6AE-CB9D9216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4ACF-E28D-D8CC-07DB-A095ED7D0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UI &amp; UX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DE71980A-3D72-B131-4D9A-10EB5F99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E3DDD3B-6FF3-DA71-37B6-D1B239711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22D092-A417-CC5A-6B52-565176DD9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35" y="1422984"/>
            <a:ext cx="5521064" cy="3427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E0D9D-DE66-BCAB-344C-A8FCECD78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497" y="1535469"/>
            <a:ext cx="5311775" cy="323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37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D13E7-81B1-17F3-496D-6D5125BAC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C67B-0626-0492-468B-5848F7B21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 Innovation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EFC32952-0F39-7A06-C2D4-C9A407FB7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B9E51088-E976-6035-6DDD-0B551F116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01F9F-79AC-7BF5-A162-F6ED8CF236B3}"/>
              </a:ext>
            </a:extLst>
          </p:cNvPr>
          <p:cNvSpPr txBox="1"/>
          <p:nvPr/>
        </p:nvSpPr>
        <p:spPr>
          <a:xfrm>
            <a:off x="643812" y="1324156"/>
            <a:ext cx="111500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</a:t>
            </a: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Multi-Agent AI Architecture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Uses separate modules for claim extraction, evidence retrieval, verification, and report generation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Improves accuracy, scalability, and modular system design</a:t>
            </a:r>
          </a:p>
          <a:p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Evidence Retrieval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Fetches live data from web sources using scraping techniques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Ensures up-to-date and reliable fact verification</a:t>
            </a: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RAG-Based Verification System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Combines retrieved evidence with LLM reasoning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Reduces hallucinations and produces evidence-backed results</a:t>
            </a:r>
          </a:p>
          <a:p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Multi-Modal Input Support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Supports verification from text, URLs, and images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Makes the system practical for diverse real-world scenarios</a:t>
            </a:r>
          </a:p>
          <a:p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045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65E59-D6C6-4B2A-CEC0-512CBF932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DD61E-A01C-3315-AAB9-3A063B2FD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Future Scope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646CD5F2-45FB-35FC-B25F-8F8F1A502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E7E67587-8B15-C4FF-1A37-E7E265373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FF85D-C406-4DAF-1588-7764F50DF786}"/>
              </a:ext>
            </a:extLst>
          </p:cNvPr>
          <p:cNvSpPr txBox="1"/>
          <p:nvPr/>
        </p:nvSpPr>
        <p:spPr>
          <a:xfrm>
            <a:off x="802433" y="1539551"/>
            <a:ext cx="114953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Conversational Fact-Checking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Enable interactive follow-up queries for deeper and more contextual verification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Allow users to refine results like a chatbot-based investigation system</a:t>
            </a:r>
          </a:p>
          <a:p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with Trusted Knowledge Bases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Connect with verified sources like Wikipedia, news APIs, and fact-checking databases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Improve accuracy and credibility of verification results</a:t>
            </a:r>
          </a:p>
          <a:p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Data &amp; API Integration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Integrate live data sources and enterprise APIs for instant fact updates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Ensure continuously updated and dynamic verification</a:t>
            </a:r>
          </a:p>
          <a:p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925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0CA29-E441-B742-D226-B299997A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B57A-BFA1-0BAF-27BA-38261106E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372" y="410060"/>
            <a:ext cx="9144000" cy="914096"/>
          </a:xfrm>
        </p:spPr>
        <p:txBody>
          <a:bodyPr lIns="0" tIns="0" rIns="0" bIns="0" anchor="t">
            <a:spAutoFit/>
          </a:bodyPr>
          <a:lstStyle/>
          <a:p>
            <a:r>
              <a:rPr lang="en-US" sz="6600">
                <a:solidFill>
                  <a:schemeClr val="bg1">
                    <a:lumMod val="95000"/>
                  </a:schemeClr>
                </a:solidFill>
                <a:latin typeface="Berlin Sans FB Demi" panose="020E0802020502020306" pitchFamily="34" charset="0"/>
              </a:rPr>
              <a:t>Conclusion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D3E90BA0-5A64-E1CB-FB96-8976B19DC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685258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1CFC9C37-A7F8-2276-6E7B-48E160D6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433" y="-1500156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7A16E-62F8-5DD0-765C-6B8F12E19636}"/>
              </a:ext>
            </a:extLst>
          </p:cNvPr>
          <p:cNvSpPr txBox="1"/>
          <p:nvPr/>
        </p:nvSpPr>
        <p:spPr>
          <a:xfrm>
            <a:off x="1303682" y="2136710"/>
            <a:ext cx="100677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Providing a Reliable AI-Based Fact Verification System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Ensures accurate and trustworthy information by combining AI with real-time evidence</a:t>
            </a:r>
          </a:p>
          <a:p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Reducing Misinformation and AI Hallucination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Uses evidence-backed verification (RAG) to minimize false or misleading outputs</a:t>
            </a:r>
          </a:p>
          <a:p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➤ </a:t>
            </a:r>
            <a:r>
              <a:rPr lang="en-I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Supporting Multi-Modal and Real-Time Analysis</a:t>
            </a:r>
            <a:b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 Enables verification of text, URLs, and images in a single unified platform</a:t>
            </a:r>
          </a:p>
          <a:p>
            <a:endParaRPr lang="en-I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932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>
                <a:solidFill>
                  <a:schemeClr val="bg1"/>
                </a:solidFill>
              </a:rPr>
              <a:t>Thank You</a:t>
            </a:r>
            <a:endParaRPr lang="en-US" sz="72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609EDA-869E-4BE5-AE5D-B898C584B6FF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A00BBF-EEBB-4E18-B8CB-F926EAAC48F7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Application>Microsoft Office PowerPoint</Application>
  <PresentationFormat>Widescreen</PresentationFormat>
  <Slides>15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Fact &amp; Claim Verification System </vt:lpstr>
      <vt:lpstr>Problem Statement</vt:lpstr>
      <vt:lpstr>Objective</vt:lpstr>
      <vt:lpstr>Target user</vt:lpstr>
      <vt:lpstr>System Overview</vt:lpstr>
      <vt:lpstr>Tech Stack</vt:lpstr>
      <vt:lpstr>Architecture</vt:lpstr>
      <vt:lpstr>Key Features</vt:lpstr>
      <vt:lpstr>Accuracy and Intelligence</vt:lpstr>
      <vt:lpstr>UI &amp; UX</vt:lpstr>
      <vt:lpstr>UI &amp; UX</vt:lpstr>
      <vt:lpstr> Innovation</vt:lpstr>
      <vt:lpstr>Future Scope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ANUSMITA RAY CHAUDHURI</dc:creator>
  <cp:revision>1</cp:revision>
  <dcterms:created xsi:type="dcterms:W3CDTF">2026-03-23T04:42:10Z</dcterms:created>
  <dcterms:modified xsi:type="dcterms:W3CDTF">2026-03-24T09:03:26Z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